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58" d="100"/>
          <a:sy n="58" d="100"/>
        </p:scale>
        <p:origin x="77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7584-B24C-36FB-32CA-A834969F0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9D342B-BAE6-F049-458C-39DB41EBB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A7B20-35E8-6345-79A3-73AC82522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6EC0-7ABD-4E3E-82C8-DD07F64E50E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3A06F-298C-1B83-4C72-6988834A3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4B3D9-DAEF-BC51-95D7-733D3985B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27D8-614E-47C8-BDB5-D29C159D8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61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09B1-A286-FC9A-6452-A11CBDB1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72853-B95A-E2C8-A8D1-19E26A1D9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4A6AC-D47E-CAB4-82F8-E4413BC92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6EC0-7ABD-4E3E-82C8-DD07F64E50E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3AA01-0218-671E-D1F0-B25D1FEF1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390DE-645C-C220-BDF3-7128E62F5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27D8-614E-47C8-BDB5-D29C159D8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8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C65B-1F62-EB51-5BF2-72433B5D0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CB182-C830-3B9F-9B43-90D41B541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C4398-38A0-3DE6-4DB5-5CB7FE90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6EC0-7ABD-4E3E-82C8-DD07F64E50E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71F11-542A-ED6E-9E91-AE35730E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6787C-7483-03FE-7291-35087721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27D8-614E-47C8-BDB5-D29C159D8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52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3972-AFD9-9F45-59F5-EF91803A9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10AFD-73ED-700C-BCCC-B63125109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51FFA-F98D-F6B9-78D5-3B7BCA281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BC10-BBC1-994E-CC0F-4C40AB78A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6EC0-7ABD-4E3E-82C8-DD07F64E50E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4CB04-656B-7E3A-A7F3-D4D662F22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6E63E-FFA0-AB05-1D66-C318EE16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27D8-614E-47C8-BDB5-D29C159D8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4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8944E-7993-7758-D660-644B399B0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D2CD8-D3EA-2F73-AFD0-6485C0E4D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C54D5-C84A-AA3B-B784-CEA6AFC34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C2B84A-B3B3-6851-8D8C-5E63F682A2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5C595F-54A4-9AB9-5D3E-B57D72A2B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88E94B-CE5C-B3EA-421F-188468C8F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6EC0-7ABD-4E3E-82C8-DD07F64E50E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32D92B-2F37-84F8-8B86-10AAB862D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743B15-5FCC-ED9B-F775-F7118FD9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27D8-614E-47C8-BDB5-D29C159D8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0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1C3DE-C5B6-65F3-BC03-D9EB3B78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58B4CC-3CB9-A083-9AB9-54B6C3D6C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6EC0-7ABD-4E3E-82C8-DD07F64E50E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B2E96-278D-34D6-50F3-4BE743901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483A2-A338-F84D-7AB9-EFF0991A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27D8-614E-47C8-BDB5-D29C159D8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52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B7DCE3-87D7-3CF2-B57E-46AC753F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6EC0-7ABD-4E3E-82C8-DD07F64E50E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97209E-4F1F-7EAA-331E-4AFA6732D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51705-AFA1-025A-80E4-EC2D91385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27D8-614E-47C8-BDB5-D29C159D8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09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8698-A3AA-0F13-A329-1C66621BB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BD5E1-9F85-CD82-21FA-679477AB0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0F0CA-2B7D-E7D4-951B-6220962DC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A43F5-8D60-9849-A90C-DE82D71B1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6EC0-7ABD-4E3E-82C8-DD07F64E50E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0EE25-DA24-E9E4-D136-FAC1C8D8A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F21F3-6854-B176-7EE9-5E596804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27D8-614E-47C8-BDB5-D29C159D8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2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E9CD6-53CB-384B-2E74-1FE5B7D70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E083A-D858-D11A-94C4-E9202849B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24BE7-950F-DEDA-D5C7-02F31ADF0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F86E6-03E3-309F-D7BC-49D82F339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6EC0-7ABD-4E3E-82C8-DD07F64E50E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D8E6D-0802-3BEB-E0DE-4AF951B3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B4C3E-5616-ED7E-5EBB-0805ADC4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27D8-614E-47C8-BDB5-D29C159D8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36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92E9-56D9-EEAA-DE25-614BE038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414AA1-34C9-8DF1-8D0C-D62DED12F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7B47B-F790-3E70-5933-983DFC095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6EC0-7ABD-4E3E-82C8-DD07F64E50E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69990-E856-7489-EACD-82C7F0504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B8AFC-320C-2190-E1C6-19EEF3DD2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27D8-614E-47C8-BDB5-D29C159D8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02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493F37-8433-6B43-E86B-A40A49DBC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0FDBC-2C4E-ABA0-32DC-8F9B11779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8AC48-8897-D4A8-69FC-AA63F4683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6EC0-7ABD-4E3E-82C8-DD07F64E50E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2C93A-5CA1-04EC-39BA-76F59BC95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C509E-EB74-9C73-5D10-9FCAAED3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27D8-614E-47C8-BDB5-D29C159D8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2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E4E568-96FE-4BCE-6453-3984ECFC0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570F0-A736-95A1-96A1-4596C8896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471D5-C90B-0FE4-DFFA-78B6146AA7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36EC0-7ABD-4E3E-82C8-DD07F64E50E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56C60-F981-F2F8-9125-CABE5506D5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758C0-038D-DC85-994E-C8AA56453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327D8-614E-47C8-BDB5-D29C159D8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C3AC-82E3-CDFE-77B8-2A3AE7660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SmartYardScan</a:t>
            </a:r>
            <a:r>
              <a:rPr lang="en-US" b="1" dirty="0"/>
              <a:t>: Automated Dog Waste Detection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EE4F16-9CB5-4C62-89F1-DEE8E70190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Tyler Boda</a:t>
            </a:r>
            <a:br>
              <a:rPr lang="en-US" dirty="0"/>
            </a:br>
            <a:r>
              <a:rPr lang="en-US" dirty="0"/>
              <a:t>ITAI 1378</a:t>
            </a:r>
          </a:p>
          <a:p>
            <a:r>
              <a:rPr lang="en-US" dirty="0"/>
              <a:t>Midterm Project Proposal – Computer Vision Object Detection</a:t>
            </a:r>
            <a:br>
              <a:rPr lang="en-US" dirty="0"/>
            </a:br>
            <a:r>
              <a:rPr lang="en-US" dirty="0"/>
              <a:t>Tier 2 – Custom Object Detection</a:t>
            </a:r>
          </a:p>
        </p:txBody>
      </p:sp>
    </p:spTree>
    <p:extLst>
      <p:ext uri="{BB962C8B-B14F-4D97-AF65-F5344CB8AC3E}">
        <p14:creationId xmlns:p14="http://schemas.microsoft.com/office/powerpoint/2010/main" val="3758245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82FE3-A724-085C-1136-58DC17F45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6616B-34F1-4102-3537-C09BA2194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Dog waste is frequently left on lawns and sidewalks, creating hygiene and cleanliness issues.</a:t>
            </a:r>
          </a:p>
          <a:p>
            <a:pPr marL="0" indent="0">
              <a:buNone/>
            </a:pPr>
            <a:r>
              <a:rPr lang="en-US" dirty="0"/>
              <a:t>Who cares:</a:t>
            </a:r>
          </a:p>
          <a:p>
            <a:r>
              <a:rPr lang="en-US" dirty="0"/>
              <a:t>Homeowners</a:t>
            </a:r>
          </a:p>
          <a:p>
            <a:r>
              <a:rPr lang="en-US" dirty="0"/>
              <a:t>HOAs</a:t>
            </a:r>
          </a:p>
          <a:p>
            <a:r>
              <a:rPr lang="en-US" dirty="0"/>
              <a:t>Property managers</a:t>
            </a:r>
          </a:p>
          <a:p>
            <a:r>
              <a:rPr lang="en-US" dirty="0"/>
              <a:t>Pet waste removal services</a:t>
            </a:r>
          </a:p>
          <a:p>
            <a:pPr marL="0" indent="0">
              <a:buNone/>
            </a:pPr>
            <a:r>
              <a:rPr lang="en-US" dirty="0"/>
              <a:t>Why it matters:</a:t>
            </a:r>
          </a:p>
          <a:p>
            <a:r>
              <a:rPr lang="en-US" dirty="0"/>
              <a:t>In medium-sized neighborhoods, inspection can take 1–2 hours per walk-through</a:t>
            </a:r>
          </a:p>
          <a:p>
            <a:r>
              <a:rPr lang="en-US" dirty="0"/>
              <a:t>Inconsistent reporting</a:t>
            </a:r>
          </a:p>
          <a:p>
            <a:r>
              <a:rPr lang="en-US" dirty="0"/>
              <a:t>Impacts neighborhood appearance and sanitation</a:t>
            </a:r>
          </a:p>
        </p:txBody>
      </p:sp>
    </p:spTree>
    <p:extLst>
      <p:ext uri="{BB962C8B-B14F-4D97-AF65-F5344CB8AC3E}">
        <p14:creationId xmlns:p14="http://schemas.microsoft.com/office/powerpoint/2010/main" val="2335686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FD7C-741E-8D1F-8A80-3073B7D33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2B1AD-C648-6067-2494-7ACED7A4C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computer vision system that detects and counts dog waste in images using object detection.</a:t>
            </a:r>
          </a:p>
          <a:p>
            <a:endParaRPr lang="en-US" dirty="0"/>
          </a:p>
          <a:p>
            <a:r>
              <a:rPr lang="en-US" dirty="0"/>
              <a:t>The system can support automated reporting and service routing decisions.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Image → YOLOv8 Model → Bounding Boxes → Count Output</a:t>
            </a:r>
          </a:p>
        </p:txBody>
      </p:sp>
    </p:spTree>
    <p:extLst>
      <p:ext uri="{BB962C8B-B14F-4D97-AF65-F5344CB8AC3E}">
        <p14:creationId xmlns:p14="http://schemas.microsoft.com/office/powerpoint/2010/main" val="210125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1E88F-45A6-6AB7-7876-74BFFE016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8A730-75D8-4A3A-1819-0D5C59EBA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48"/>
            <a:ext cx="10515600" cy="466621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Technique:</a:t>
            </a:r>
          </a:p>
          <a:p>
            <a:r>
              <a:rPr lang="en-US" dirty="0"/>
              <a:t>Object Detection</a:t>
            </a:r>
          </a:p>
          <a:p>
            <a:pPr marL="0" indent="0">
              <a:buNone/>
            </a:pPr>
            <a:r>
              <a:rPr lang="en-US" dirty="0"/>
              <a:t>Model:</a:t>
            </a:r>
          </a:p>
          <a:p>
            <a:r>
              <a:rPr lang="en-US" dirty="0"/>
              <a:t>YOLOv8n (</a:t>
            </a:r>
            <a:r>
              <a:rPr lang="en-US" dirty="0" err="1"/>
              <a:t>Ultralytics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Framework:</a:t>
            </a:r>
          </a:p>
          <a:p>
            <a:r>
              <a:rPr lang="en-US" dirty="0" err="1"/>
              <a:t>PyTorch</a:t>
            </a:r>
            <a:r>
              <a:rPr lang="en-US" dirty="0"/>
              <a:t> (</a:t>
            </a:r>
            <a:r>
              <a:rPr lang="en-US" dirty="0" err="1"/>
              <a:t>Ultralytics</a:t>
            </a:r>
            <a:r>
              <a:rPr lang="en-US" dirty="0"/>
              <a:t> implementation)</a:t>
            </a:r>
          </a:p>
          <a:p>
            <a:pPr marL="0" indent="0">
              <a:buNone/>
            </a:pPr>
            <a:r>
              <a:rPr lang="en-US" dirty="0"/>
              <a:t>Reasons for these selections:</a:t>
            </a:r>
          </a:p>
          <a:p>
            <a:r>
              <a:rPr lang="en-US" dirty="0"/>
              <a:t>Lightweight and fast</a:t>
            </a:r>
          </a:p>
          <a:p>
            <a:r>
              <a:rPr lang="en-US" dirty="0"/>
              <a:t>Strong real-time detection performance</a:t>
            </a:r>
          </a:p>
          <a:p>
            <a:r>
              <a:rPr lang="en-US" dirty="0"/>
              <a:t>Easy to train on custom datasets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YOLOv8n was selected because it balances speed and performance, making it suitable for real-time or near-real-time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722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C6687-B21A-8FA9-B838-F34DAFC8D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1C3AD-DAA6-3429-2546-601BDAC69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Source:</a:t>
            </a:r>
          </a:p>
          <a:p>
            <a:r>
              <a:rPr lang="en-US" dirty="0" err="1"/>
              <a:t>Roboflow</a:t>
            </a:r>
            <a:r>
              <a:rPr lang="en-US" dirty="0"/>
              <a:t> Universe – Dog Poo Health Dataset (MIT License)</a:t>
            </a:r>
          </a:p>
          <a:p>
            <a:pPr marL="0" indent="0">
              <a:buNone/>
            </a:pPr>
            <a:r>
              <a:rPr lang="en-US" dirty="0"/>
              <a:t>Size:</a:t>
            </a:r>
          </a:p>
          <a:p>
            <a:r>
              <a:rPr lang="en-US" dirty="0"/>
              <a:t>126 training images</a:t>
            </a:r>
          </a:p>
          <a:p>
            <a:r>
              <a:rPr lang="en-US" dirty="0"/>
              <a:t>8 validation images</a:t>
            </a:r>
          </a:p>
          <a:p>
            <a:pPr marL="0" indent="0">
              <a:buNone/>
            </a:pPr>
            <a:r>
              <a:rPr lang="en-US" dirty="0"/>
              <a:t>Classes:</a:t>
            </a:r>
          </a:p>
          <a:p>
            <a:r>
              <a:rPr lang="en-US" dirty="0"/>
              <a:t>Merged into 1 class: </a:t>
            </a:r>
            <a:r>
              <a:rPr lang="en-US" dirty="0" err="1"/>
              <a:t>dog_poop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Preparation:</a:t>
            </a:r>
          </a:p>
          <a:p>
            <a:r>
              <a:rPr lang="en-US" dirty="0"/>
              <a:t>Converted multi-class labels to single class</a:t>
            </a:r>
          </a:p>
          <a:p>
            <a:r>
              <a:rPr lang="en-US" dirty="0"/>
              <a:t>Verified label formatting</a:t>
            </a:r>
          </a:p>
          <a:p>
            <a:r>
              <a:rPr lang="en-US" dirty="0"/>
              <a:t>Cleaned YAML configuration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dataset is small (126 training images), so performance may not generalize fully to new environments.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54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90A9-E7BF-FC93-3C8B-A890657F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1FD43-EA8F-2793-DCB2-D03B1F426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[Input Image]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[Preprocessing / Resize]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[YOLOv8 Model Inference]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[Bounding Box Detection]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[Output Image + Count]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333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F44E-8E13-2C17-4AF6-A949F3F47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D6E85-C6D2-F2A9-A252-57C5BF6DE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Primary Metric:</a:t>
            </a:r>
          </a:p>
          <a:p>
            <a:r>
              <a:rPr lang="en-US" dirty="0"/>
              <a:t>Target mAP50 ≥ 0.70</a:t>
            </a:r>
          </a:p>
          <a:p>
            <a:r>
              <a:rPr lang="en-US" dirty="0"/>
              <a:t>Achieved: 0.995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Secondary Metrics:</a:t>
            </a:r>
          </a:p>
          <a:p>
            <a:r>
              <a:rPr lang="en-US" dirty="0"/>
              <a:t>Precision: 0.994</a:t>
            </a:r>
          </a:p>
          <a:p>
            <a:r>
              <a:rPr lang="en-US" dirty="0"/>
              <a:t>Recall: 1.000</a:t>
            </a:r>
          </a:p>
          <a:p>
            <a:r>
              <a:rPr lang="en-US" dirty="0"/>
              <a:t>Inference speed: ~0.18 seconds per image (CPU)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Limitation:</a:t>
            </a:r>
          </a:p>
          <a:p>
            <a:r>
              <a:rPr lang="en-US" dirty="0"/>
              <a:t>Validation set is small (8 images)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066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79E18-D845-7F4A-E8A7-15DB165B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Inference Demo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24F8903-005B-BFEC-7983-C964A49414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9187"/>
            <a:ext cx="10515599" cy="3426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Output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Detected Class: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dog_poop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Bounding Box Confidence: ~0.99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Objects Detected: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Inference Time: ~0.18 seconds</a:t>
            </a:r>
          </a:p>
          <a:p>
            <a:pPr marL="0" indent="0">
              <a:buNone/>
            </a:pPr>
            <a:r>
              <a:rPr lang="en-US" sz="2000" dirty="0"/>
              <a:t>Interpretation:</a:t>
            </a:r>
          </a:p>
          <a:p>
            <a:pPr marL="0" indent="0">
              <a:buNone/>
            </a:pPr>
            <a:r>
              <a:rPr lang="en-US" sz="2000" dirty="0"/>
              <a:t>The model correctly identified the dog waste instance and placed a tight bounding box around it. High confidence score indicates strong model certainty. Demonstrates feasibility of automated visual inspection.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3A9AA2-504E-FF38-21AC-5C9C00864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887" y="1813689"/>
            <a:ext cx="181927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603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10035-686A-A00D-99C8-D095C39D9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by Week Plan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A4F2B-EACF-DFB4-7025-5D8FC69E5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Week 10:</a:t>
            </a:r>
          </a:p>
          <a:p>
            <a:r>
              <a:rPr lang="en-US" dirty="0"/>
              <a:t>Dataset + environment setup</a:t>
            </a:r>
          </a:p>
          <a:p>
            <a:pPr marL="0" indent="0">
              <a:buNone/>
            </a:pPr>
            <a:r>
              <a:rPr lang="en-US" dirty="0"/>
              <a:t>Week 11:</a:t>
            </a:r>
          </a:p>
          <a:p>
            <a:r>
              <a:rPr lang="en-US" dirty="0"/>
              <a:t>Initial training + debugging</a:t>
            </a:r>
          </a:p>
          <a:p>
            <a:pPr marL="0" indent="0">
              <a:buNone/>
            </a:pPr>
            <a:r>
              <a:rPr lang="en-US" dirty="0"/>
              <a:t>Week 12:</a:t>
            </a:r>
          </a:p>
          <a:p>
            <a:r>
              <a:rPr lang="en-US" dirty="0"/>
              <a:t>Model tuning + label verification</a:t>
            </a:r>
          </a:p>
          <a:p>
            <a:pPr marL="0" indent="0">
              <a:buNone/>
            </a:pPr>
            <a:r>
              <a:rPr lang="en-US" dirty="0"/>
              <a:t>Week 13:</a:t>
            </a:r>
          </a:p>
          <a:p>
            <a:r>
              <a:rPr lang="en-US" dirty="0"/>
              <a:t>Demo generation + testing</a:t>
            </a:r>
          </a:p>
          <a:p>
            <a:pPr marL="0" indent="0">
              <a:buNone/>
            </a:pPr>
            <a:r>
              <a:rPr lang="en-US" dirty="0"/>
              <a:t>Week 14:</a:t>
            </a:r>
          </a:p>
          <a:p>
            <a:r>
              <a:rPr lang="en-US" dirty="0"/>
              <a:t>Documentation + slide preparation</a:t>
            </a:r>
          </a:p>
          <a:p>
            <a:pPr marL="0" indent="0">
              <a:buNone/>
            </a:pPr>
            <a:r>
              <a:rPr lang="en-US" dirty="0"/>
              <a:t>Week 15:</a:t>
            </a:r>
          </a:p>
          <a:p>
            <a:r>
              <a:rPr lang="en-US" dirty="0"/>
              <a:t>Presentation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224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60EE-BA41-7AA1-C5F7-E174F11C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&amp; Backup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5DB2-EFCA-A958-D554-CA0774234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Challenge:</a:t>
            </a:r>
          </a:p>
          <a:p>
            <a:r>
              <a:rPr lang="en-US" dirty="0"/>
              <a:t>Small dataset size</a:t>
            </a:r>
          </a:p>
          <a:p>
            <a:pPr marL="0" indent="0">
              <a:buNone/>
            </a:pPr>
            <a:r>
              <a:rPr lang="en-US" dirty="0"/>
              <a:t>Mitigation:</a:t>
            </a:r>
          </a:p>
          <a:p>
            <a:r>
              <a:rPr lang="en-US" dirty="0"/>
              <a:t>Add more real-world images</a:t>
            </a:r>
          </a:p>
          <a:p>
            <a:pPr marL="0" indent="0">
              <a:buNone/>
            </a:pPr>
            <a:r>
              <a:rPr lang="en-US" dirty="0"/>
              <a:t>Challenge:</a:t>
            </a:r>
          </a:p>
          <a:p>
            <a:r>
              <a:rPr lang="en-US" dirty="0"/>
              <a:t>Overfitting due to limited data</a:t>
            </a:r>
          </a:p>
          <a:p>
            <a:pPr marL="0" indent="0">
              <a:buNone/>
            </a:pPr>
            <a:r>
              <a:rPr lang="en-US" dirty="0"/>
              <a:t>Mitigation:</a:t>
            </a:r>
          </a:p>
          <a:p>
            <a:r>
              <a:rPr lang="en-US" dirty="0"/>
              <a:t>Data augmentation</a:t>
            </a:r>
          </a:p>
          <a:p>
            <a:r>
              <a:rPr lang="en-US" dirty="0"/>
              <a:t>Collect “no poop” images</a:t>
            </a:r>
          </a:p>
          <a:p>
            <a:pPr marL="0" indent="0">
              <a:buNone/>
            </a:pPr>
            <a:r>
              <a:rPr lang="en-US" dirty="0"/>
              <a:t>Challenge:</a:t>
            </a:r>
          </a:p>
          <a:p>
            <a:r>
              <a:rPr lang="en-US" dirty="0"/>
              <a:t>CPU training speed</a:t>
            </a:r>
          </a:p>
          <a:p>
            <a:pPr marL="0" indent="0">
              <a:buNone/>
            </a:pPr>
            <a:r>
              <a:rPr lang="en-US" dirty="0"/>
              <a:t>Mitigation:</a:t>
            </a:r>
          </a:p>
          <a:p>
            <a:r>
              <a:rPr lang="en-US" dirty="0"/>
              <a:t>Use smaller YOLO model (yolov8n)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259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7E9ED-6A62-659F-4C69-3AECE759C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D7AD8-B297-A6DB-2F4F-6C6DB777E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Compute:</a:t>
            </a:r>
          </a:p>
          <a:p>
            <a:r>
              <a:rPr lang="en-US" dirty="0"/>
              <a:t>Local CPU (Intel i5)</a:t>
            </a:r>
          </a:p>
          <a:p>
            <a:pPr marL="0" indent="0">
              <a:buNone/>
            </a:pPr>
            <a:r>
              <a:rPr lang="en-US" dirty="0"/>
              <a:t>Frameworks:</a:t>
            </a:r>
          </a:p>
          <a:p>
            <a:r>
              <a:rPr lang="en-US" dirty="0" err="1"/>
              <a:t>Ultralytics</a:t>
            </a:r>
            <a:r>
              <a:rPr lang="en-US" dirty="0"/>
              <a:t> YOLO</a:t>
            </a:r>
          </a:p>
          <a:p>
            <a:r>
              <a:rPr lang="en-US" dirty="0" err="1"/>
              <a:t>PyTorch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Cost:</a:t>
            </a:r>
          </a:p>
          <a:p>
            <a:r>
              <a:rPr lang="en-US" dirty="0"/>
              <a:t>$0</a:t>
            </a:r>
          </a:p>
          <a:p>
            <a:pPr marL="0" indent="0">
              <a:buNone/>
            </a:pPr>
            <a:r>
              <a:rPr lang="en-US" dirty="0"/>
              <a:t>Data:</a:t>
            </a:r>
          </a:p>
          <a:p>
            <a:r>
              <a:rPr lang="en-US" dirty="0" err="1"/>
              <a:t>Roboflow</a:t>
            </a:r>
            <a:r>
              <a:rPr lang="en-US" dirty="0"/>
              <a:t> (MIT license dataset)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802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497</Words>
  <Application>Microsoft Office PowerPoint</Application>
  <PresentationFormat>Widescreen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SmartYardScan: Automated Dog Waste Detection</vt:lpstr>
      <vt:lpstr>The Problem</vt:lpstr>
      <vt:lpstr>The Solution</vt:lpstr>
      <vt:lpstr>Technical Approach</vt:lpstr>
      <vt:lpstr>Data Plan</vt:lpstr>
      <vt:lpstr>System Diagram</vt:lpstr>
      <vt:lpstr>Results</vt:lpstr>
      <vt:lpstr>Model Inference Demo</vt:lpstr>
      <vt:lpstr>Week by Week Plan </vt:lpstr>
      <vt:lpstr>Challenges &amp; Backup Plan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thepooptroop.services@gmail.com</dc:creator>
  <cp:lastModifiedBy>thepooptroop.services@gmail.com</cp:lastModifiedBy>
  <cp:revision>2</cp:revision>
  <dcterms:created xsi:type="dcterms:W3CDTF">2026-03-02T16:52:13Z</dcterms:created>
  <dcterms:modified xsi:type="dcterms:W3CDTF">2026-03-02T17:10:49Z</dcterms:modified>
</cp:coreProperties>
</file>